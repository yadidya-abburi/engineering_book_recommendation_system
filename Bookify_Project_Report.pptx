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1DB954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8B7CF8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0292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1DB95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212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F"/>
                </a:solidFill>
              </a:rPr>
              <a:t>📚 BOOKIFY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Book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DB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 System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4114800" cy="22860"/>
          </a:xfrm>
          <a:prstGeom prst="rect">
            <a:avLst/>
          </a:prstGeom>
          <a:solidFill>
            <a:srgbClr val="2E2E4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868A0"/>
                </a:solidFill>
              </a:rPr>
              <a:t>A Content-Based ML Project using TF-IDF + Cosine Similarity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1920240" cy="777240"/>
          </a:xfrm>
          <a:prstGeom prst="rect">
            <a:avLst/>
          </a:prstGeom>
          <a:solidFill>
            <a:srgbClr val="1C1C2A"/>
          </a:solidFill>
          <a:ln w="6350">
            <a:solidFill>
              <a:srgbClr val="2E2E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10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B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3,349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36758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30" kern="0" dirty="0">
                <a:solidFill>
                  <a:srgbClr val="6868A0"/>
                </a:solidFill>
              </a:rPr>
              <a:t>Books in corpus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606040" y="3291840"/>
            <a:ext cx="1920240" cy="777240"/>
          </a:xfrm>
          <a:prstGeom prst="rect">
            <a:avLst/>
          </a:prstGeom>
          <a:solidFill>
            <a:srgbClr val="1C1C2A"/>
          </a:solidFill>
          <a:ln w="6350">
            <a:solidFill>
              <a:srgbClr val="2E2E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3310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B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8,000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606040" y="36758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30" kern="0" dirty="0">
                <a:solidFill>
                  <a:srgbClr val="6868A0"/>
                </a:solidFill>
              </a:rPr>
              <a:t>TF-IDF features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54880" y="3291840"/>
            <a:ext cx="1920240" cy="777240"/>
          </a:xfrm>
          <a:prstGeom prst="rect">
            <a:avLst/>
          </a:prstGeom>
          <a:solidFill>
            <a:srgbClr val="1C1C2A"/>
          </a:solidFill>
          <a:ln w="6350">
            <a:solidFill>
              <a:srgbClr val="2E2E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310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B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54880" y="36758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30" kern="0" dirty="0">
                <a:solidFill>
                  <a:srgbClr val="6868A0"/>
                </a:solidFill>
              </a:rPr>
              <a:t>Top ranked books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903720" y="3291840"/>
            <a:ext cx="1920240" cy="777240"/>
          </a:xfrm>
          <a:prstGeom prst="rect">
            <a:avLst/>
          </a:prstGeom>
          <a:solidFill>
            <a:srgbClr val="1C1C2A"/>
          </a:solidFill>
          <a:ln w="6350">
            <a:solidFill>
              <a:srgbClr val="2E2E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3310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B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03720" y="36758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30" kern="0" dirty="0">
                <a:solidFill>
                  <a:srgbClr val="6868A0"/>
                </a:solidFill>
              </a:rPr>
              <a:t>Rec coverage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50" kern="0" dirty="0">
                <a:solidFill>
                  <a:srgbClr val="2E2E44"/>
                </a:solidFill>
              </a:rPr>
              <a:t>Mini Project  ·  Machine Learning  ·  Python + Scikit-learn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365760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206240" cy="804672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457200" cy="804672"/>
          </a:xfrm>
          <a:prstGeom prst="rect">
            <a:avLst/>
          </a:prstGeom>
          <a:solidFill>
            <a:srgbClr val="1DB95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F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868680"/>
            <a:ext cx="54864" cy="804672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960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Datasets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68A0"/>
                </a:solidFill>
              </a:rPr>
              <a:t>Fields, sources, limitations, scope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4206240" cy="804672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828800"/>
            <a:ext cx="457200" cy="804672"/>
          </a:xfrm>
          <a:prstGeom prst="rect">
            <a:avLst/>
          </a:prstGeom>
          <a:solidFill>
            <a:srgbClr val="8B7C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05740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F"/>
                </a:solidFill>
              </a:rPr>
              <a:t>02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1828800"/>
            <a:ext cx="54864" cy="804672"/>
          </a:xfrm>
          <a:prstGeom prst="rect">
            <a:avLst/>
          </a:prstGeom>
          <a:solidFill>
            <a:srgbClr val="8B7CF8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1920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Tech Stack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240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68A0"/>
                </a:solidFill>
              </a:rPr>
              <a:t>Python, scikit-learn, TF-IDF, pptxgenjs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788920"/>
            <a:ext cx="4206240" cy="804672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788920"/>
            <a:ext cx="457200" cy="804672"/>
          </a:xfrm>
          <a:prstGeom prst="rect">
            <a:avLst/>
          </a:prstGeom>
          <a:solidFill>
            <a:srgbClr val="F0C0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01752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F"/>
                </a:solidFill>
              </a:rPr>
              <a:t>03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2788920"/>
            <a:ext cx="54864" cy="804672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2880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How It Works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3200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68A0"/>
                </a:solidFill>
              </a:rPr>
              <a:t>Full ML pipeline explained simply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749040"/>
            <a:ext cx="4206240" cy="804672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749040"/>
            <a:ext cx="457200" cy="804672"/>
          </a:xfrm>
          <a:prstGeom prst="rect">
            <a:avLst/>
          </a:prstGeom>
          <a:solidFill>
            <a:srgbClr val="60A5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97764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F"/>
                </a:solidFill>
              </a:rPr>
              <a:t>04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" y="3749040"/>
            <a:ext cx="54864" cy="804672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Vertical Scale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4160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68A0"/>
                </a:solidFill>
              </a:rPr>
              <a:t>Reliability, accuracy, robustness improvements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937760" y="868680"/>
            <a:ext cx="4206240" cy="804672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37760" y="868680"/>
            <a:ext cx="457200" cy="804672"/>
          </a:xfrm>
          <a:prstGeom prst="rect">
            <a:avLst/>
          </a:prstGeom>
          <a:solidFill>
            <a:srgbClr val="FB923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109728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F"/>
                </a:solidFill>
              </a:rPr>
              <a:t>05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394960" y="868680"/>
            <a:ext cx="54864" cy="804672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2" name="Text 30"/>
          <p:cNvSpPr/>
          <p:nvPr/>
        </p:nvSpPr>
        <p:spPr>
          <a:xfrm>
            <a:off x="5532120" y="960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Horizontal Scale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3212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68A0"/>
                </a:solidFill>
              </a:rPr>
              <a:t>New features, personalisation, APIs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937760" y="1828800"/>
            <a:ext cx="4206240" cy="804672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937760" y="1828800"/>
            <a:ext cx="457200" cy="804672"/>
          </a:xfrm>
          <a:prstGeom prst="rect">
            <a:avLst/>
          </a:prstGeom>
          <a:solidFill>
            <a:srgbClr val="F871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205740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F"/>
                </a:solidFill>
              </a:rPr>
              <a:t>06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394960" y="1828800"/>
            <a:ext cx="54864" cy="804672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8" name="Text 36"/>
          <p:cNvSpPr/>
          <p:nvPr/>
        </p:nvSpPr>
        <p:spPr>
          <a:xfrm>
            <a:off x="5532120" y="1920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Related Work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532120" y="2240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68A0"/>
                </a:solidFill>
              </a:rPr>
              <a:t>Similar projects &amp; what makes Bookify different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937760" y="2788920"/>
            <a:ext cx="4206240" cy="804672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937760" y="2788920"/>
            <a:ext cx="457200" cy="804672"/>
          </a:xfrm>
          <a:prstGeom prst="rect">
            <a:avLst/>
          </a:prstGeom>
          <a:solidFill>
            <a:srgbClr val="1DB95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3480" y="301752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F"/>
                </a:solidFill>
              </a:rPr>
              <a:t>07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394960" y="2788920"/>
            <a:ext cx="54864" cy="804672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44" name="Text 42"/>
          <p:cNvSpPr/>
          <p:nvPr/>
        </p:nvSpPr>
        <p:spPr>
          <a:xfrm>
            <a:off x="5532120" y="2880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Research Base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532120" y="3200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68A0"/>
                </a:solidFill>
              </a:rPr>
              <a:t>Paper reference + proposed improvements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365760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Datasets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4023360" cy="3931920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04672"/>
            <a:ext cx="4023360" cy="347472"/>
          </a:xfrm>
          <a:prstGeom prst="rect">
            <a:avLst/>
          </a:prstGeom>
          <a:solidFill>
            <a:srgbClr val="1DB95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0A0A0F"/>
                </a:solidFill>
              </a:rPr>
              <a:t>DATASET 1 · GOODREADS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A0"/>
                </a:solidFill>
              </a:rPr>
              <a:t>goodreads_engineering_books.csv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📊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0392" y="15819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</a:rPr>
              <a:t>2,375 engineering books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8928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0392" y="19019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</a:rPr>
              <a:t>Ratings: 3.4 – 4.4 (narrow!)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2128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📅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0392" y="22219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</a:rPr>
              <a:t>Years: 1965 – 2021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5328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👤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0392" y="25420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</a:rPr>
              <a:t>22 missing authors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28529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📝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0392" y="28620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</a:rPr>
              <a:t>624 missing descriptions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1729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🔗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0392" y="31821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</a:rPr>
              <a:t>Includes download links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34930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🌐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0392" y="35021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</a:rPr>
              <a:t>All in English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8130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🏷️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0392" y="38221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</a:rPr>
              <a:t>No native categories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804672"/>
            <a:ext cx="4023360" cy="3931920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804672"/>
            <a:ext cx="4023360" cy="347472"/>
          </a:xfrm>
          <a:prstGeom prst="rect">
            <a:avLst/>
          </a:prstGeom>
          <a:solidFill>
            <a:srgbClr val="8B7C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80467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</a:rPr>
              <a:t>DATASET 2 · GOOGLE BOOKS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1234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868A0"/>
                </a:solidFill>
              </a:rPr>
              <a:t>google_books_technical.csv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15727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📊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93792" y="15819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</a:rPr>
              <a:t>1,491 technical books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46320" y="18928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⭐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93792" y="19019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</a:rPr>
              <a:t>Only 102/1,491 rated (6.8%!)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46320" y="22128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📅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193792" y="22219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</a:rPr>
              <a:t>Wider date coverage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46320" y="25328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🌍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193792" y="25420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</a:rPr>
              <a:t>Mostly English (1,488/1,491)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46320" y="28529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📷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193792" y="28620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</a:rPr>
              <a:t>Google thumbnail URLs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46320" y="31729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🔖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193792" y="31821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</a:rPr>
              <a:t>21 columns incl. ISBN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46320" y="34930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🏷️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193792" y="35021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</a:rPr>
              <a:t>Has 'categories' field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846320" y="38130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💰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193792" y="38221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</a:rPr>
              <a:t>Includes pricing data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365760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Fields &amp; What We Used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292608"/>
          </a:xfrm>
          <a:prstGeom prst="rect">
            <a:avLst/>
          </a:prstGeom>
          <a:solidFill>
            <a:srgbClr val="1C1C2A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8229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868A0"/>
                </a:solidFill>
              </a:rPr>
              <a:t>Field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645920" y="8229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868A0"/>
                </a:solidFill>
              </a:rPr>
              <a:t>Status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834640" y="82296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868A0"/>
                </a:solidFill>
              </a:rPr>
              <a:t>How We Used It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152144"/>
            <a:ext cx="8503920" cy="242316"/>
          </a:xfrm>
          <a:prstGeom prst="rect">
            <a:avLst/>
          </a:prstGeom>
          <a:solidFill>
            <a:srgbClr val="1C1C2A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7957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91640" y="1188720"/>
            <a:ext cx="1005840" cy="173736"/>
          </a:xfrm>
          <a:prstGeom prst="roundRect">
            <a:avLst>
              <a:gd name="adj" fmla="val 21053"/>
            </a:avLst>
          </a:prstGeom>
          <a:solidFill>
            <a:srgbClr val="1DB954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11795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✅ Used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834640" y="1179576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A0"/>
                </a:solidFill>
              </a:rPr>
              <a:t>Primary text feature for TF-IDF and display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1428293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91640" y="1437437"/>
            <a:ext cx="1005840" cy="173736"/>
          </a:xfrm>
          <a:prstGeom prst="roundRect">
            <a:avLst>
              <a:gd name="adj" fmla="val 21053"/>
            </a:avLst>
          </a:prstGeom>
          <a:solidFill>
            <a:srgbClr val="1DB954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1428293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✅ Used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834640" y="1428293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A0"/>
                </a:solidFill>
              </a:rPr>
              <a:t>Added to TF-IDF text blob; shown in UI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1649578"/>
            <a:ext cx="8503920" cy="242316"/>
          </a:xfrm>
          <a:prstGeom prst="rect">
            <a:avLst/>
          </a:prstGeom>
          <a:solidFill>
            <a:srgbClr val="1C1C2A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167701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description/desc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91640" y="1686154"/>
            <a:ext cx="1005840" cy="173736"/>
          </a:xfrm>
          <a:prstGeom prst="roundRect">
            <a:avLst>
              <a:gd name="adj" fmla="val 21053"/>
            </a:avLst>
          </a:prstGeom>
          <a:solidFill>
            <a:srgbClr val="1DB954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91640" y="167701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✅ Used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834640" y="1677010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A0"/>
                </a:solidFill>
              </a:rPr>
              <a:t>Most important feature — main TF-IDF content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92572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goodreads_rating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691640" y="1934870"/>
            <a:ext cx="1005840" cy="173736"/>
          </a:xfrm>
          <a:prstGeom prst="roundRect">
            <a:avLst>
              <a:gd name="adj" fmla="val 21053"/>
            </a:avLst>
          </a:prstGeom>
          <a:solidFill>
            <a:srgbClr val="1DB954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91640" y="192572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✅ Used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834640" y="1925726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A0"/>
                </a:solidFill>
              </a:rPr>
              <a:t>60% of hybrid ML score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2147011"/>
            <a:ext cx="8503920" cy="242316"/>
          </a:xfrm>
          <a:prstGeom prst="rect">
            <a:avLst/>
          </a:prstGeom>
          <a:solidFill>
            <a:srgbClr val="1C1C2A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174443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ratings_count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691640" y="2183587"/>
            <a:ext cx="1005840" cy="173736"/>
          </a:xfrm>
          <a:prstGeom prst="roundRect">
            <a:avLst>
              <a:gd name="adj" fmla="val 21053"/>
            </a:avLst>
          </a:prstGeom>
          <a:solidFill>
            <a:srgbClr val="1DB954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91640" y="2174443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✅ Used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834640" y="2174443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A0"/>
                </a:solidFill>
              </a:rPr>
              <a:t>40% of hybrid ML score (log-normalised)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24231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691640" y="2432304"/>
            <a:ext cx="1005840" cy="173736"/>
          </a:xfrm>
          <a:prstGeom prst="roundRect">
            <a:avLst>
              <a:gd name="adj" fmla="val 21053"/>
            </a:avLst>
          </a:prstGeom>
          <a:solidFill>
            <a:srgbClr val="1DB954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91640" y="2423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✅ Used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834640" y="2423160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A0"/>
                </a:solidFill>
              </a:rPr>
              <a:t>Display + sort; year badge in UI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2644445"/>
            <a:ext cx="8503920" cy="242316"/>
          </a:xfrm>
          <a:prstGeom prst="rect">
            <a:avLst/>
          </a:prstGeom>
          <a:solidFill>
            <a:srgbClr val="1C1C2A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2671877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691640" y="2681021"/>
            <a:ext cx="1005840" cy="173736"/>
          </a:xfrm>
          <a:prstGeom prst="roundRect">
            <a:avLst>
              <a:gd name="adj" fmla="val 21053"/>
            </a:avLst>
          </a:prstGeom>
          <a:solidFill>
            <a:srgbClr val="1DB954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91640" y="2671877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✅ Used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834640" y="2671877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A0"/>
                </a:solidFill>
              </a:rPr>
              <a:t>Display only; pages badge in UI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" y="292059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publisher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691640" y="2929738"/>
            <a:ext cx="1005840" cy="173736"/>
          </a:xfrm>
          <a:prstGeom prst="roundRect">
            <a:avLst>
              <a:gd name="adj" fmla="val 21053"/>
            </a:avLst>
          </a:prstGeom>
          <a:solidFill>
            <a:srgbClr val="1DB954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691640" y="292059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✅ Used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834640" y="292059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A0"/>
                </a:solidFill>
              </a:rPr>
              <a:t>Display + searchable in UI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0040" y="3141878"/>
            <a:ext cx="8503920" cy="242316"/>
          </a:xfrm>
          <a:prstGeom prst="rect">
            <a:avLst/>
          </a:prstGeom>
          <a:solidFill>
            <a:srgbClr val="1C1C2A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316931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image/thumbnail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691640" y="3178454"/>
            <a:ext cx="1005840" cy="173736"/>
          </a:xfrm>
          <a:prstGeom prst="roundRect">
            <a:avLst>
              <a:gd name="adj" fmla="val 21053"/>
            </a:avLst>
          </a:prstGeom>
          <a:solidFill>
            <a:srgbClr val="F0C04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691640" y="316931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⚠️ Partial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834640" y="3169310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A0"/>
                </a:solidFill>
              </a:rPr>
              <a:t>URLs were 403 blocked; replaced with Open Library API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1480" y="3418027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download_link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691640" y="3427171"/>
            <a:ext cx="1005840" cy="173736"/>
          </a:xfrm>
          <a:prstGeom prst="roundRect">
            <a:avLst>
              <a:gd name="adj" fmla="val 21053"/>
            </a:avLst>
          </a:prstGeom>
          <a:solidFill>
            <a:srgbClr val="F87171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691640" y="3418027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❌ Unused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2834640" y="3418027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A0"/>
                </a:solidFill>
              </a:rPr>
              <a:t>Out of scope; legal/ethical concerns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20040" y="3639312"/>
            <a:ext cx="8503920" cy="242316"/>
          </a:xfrm>
          <a:prstGeom prst="rect">
            <a:avLst/>
          </a:prstGeom>
          <a:solidFill>
            <a:srgbClr val="1C1C2A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36667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691640" y="3675888"/>
            <a:ext cx="1005840" cy="173736"/>
          </a:xfrm>
          <a:prstGeom prst="roundRect">
            <a:avLst>
              <a:gd name="adj" fmla="val 21053"/>
            </a:avLst>
          </a:prstGeom>
          <a:solidFill>
            <a:srgbClr val="F87171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691640" y="36667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❌ Unused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2834640" y="366674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A0"/>
                </a:solidFill>
              </a:rPr>
              <a:t>Format metadata (PDF/EPUB) — not relevant to recs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3915461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isbn_13/isbn_10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691640" y="3924605"/>
            <a:ext cx="1005840" cy="173736"/>
          </a:xfrm>
          <a:prstGeom prst="roundRect">
            <a:avLst>
              <a:gd name="adj" fmla="val 21053"/>
            </a:avLst>
          </a:prstGeom>
          <a:solidFill>
            <a:srgbClr val="F87171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691640" y="3915461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❌ Unused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2834640" y="3915461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A0"/>
                </a:solidFill>
              </a:rPr>
              <a:t>Could improve cover lookup; not implemented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0040" y="4136746"/>
            <a:ext cx="8503920" cy="242316"/>
          </a:xfrm>
          <a:prstGeom prst="rect">
            <a:avLst/>
          </a:prstGeom>
          <a:solidFill>
            <a:srgbClr val="1C1C2A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11480" y="416417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list_price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1691640" y="4173322"/>
            <a:ext cx="1005840" cy="173736"/>
          </a:xfrm>
          <a:prstGeom prst="roundRect">
            <a:avLst>
              <a:gd name="adj" fmla="val 21053"/>
            </a:avLst>
          </a:prstGeom>
          <a:solidFill>
            <a:srgbClr val="F87171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691640" y="416417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❌ Unused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2834640" y="4164178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A0"/>
                </a:solidFill>
              </a:rPr>
              <a:t>Pricing data; out of scope for this project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11480" y="441289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categories (D2)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1691640" y="4422038"/>
            <a:ext cx="1005840" cy="173736"/>
          </a:xfrm>
          <a:prstGeom prst="roundRect">
            <a:avLst>
              <a:gd name="adj" fmla="val 21053"/>
            </a:avLst>
          </a:prstGeom>
          <a:solidFill>
            <a:srgbClr val="F87171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691640" y="441289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❌ Unused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2834640" y="441289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A0"/>
                </a:solidFill>
              </a:rPr>
              <a:t>We built our own keyword-based categoriser instead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365760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Dataset: Limitations &amp; Scope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3840480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114800" cy="320040"/>
          </a:xfrm>
          <a:prstGeom prst="rect">
            <a:avLst/>
          </a:prstGeom>
          <a:solidFill>
            <a:srgbClr val="F87171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⚠  LIMITATIONS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</a:rPr>
              <a:t>Rating bias: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4356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Goodreads ratings cluster between 3.4–4.4. No real low-rated books — range is compressed.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170992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</a:rPr>
              <a:t>Cold start: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8836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Books with zero ratings get score = 0 regardless of quality. New books are invisible.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215798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</a:rPr>
              <a:t>Missing descriptions: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3317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624 books (26%) have no description — TF-IDF representation is weak for these.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26060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</a:rPr>
              <a:t>Sparse Google ratings: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7797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Only 6.8% of Google Books dataset has ratings — almost unusable for scoring.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305409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</a:rPr>
              <a:t>No user data: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2278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Zero interaction data. Cannot learn from 'users who liked X also liked Y'.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" y="350215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</a:rPr>
              <a:t>Static snapshot: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36758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Dataset is a fixed CSV. No live updates, no new books added automatically.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39502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</a:rPr>
              <a:t>English only: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41239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Non-English engineering books excluded. Global scope is limited.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822960"/>
            <a:ext cx="4023360" cy="3840480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822960"/>
            <a:ext cx="4023360" cy="320040"/>
          </a:xfrm>
          <a:prstGeom prst="rect">
            <a:avLst/>
          </a:prstGeom>
          <a:solidFill>
            <a:srgbClr val="1DB954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822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A0A0F"/>
                </a:solidFill>
              </a:rPr>
              <a:t>✅  SCOPE (What It Covers)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126187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B954"/>
                </a:solidFill>
              </a:rPr>
              <a:t>Engineering domain: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14356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Highly focused on CS, electrical, mechanical, security, AI/ML topics.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92040" y="170992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B954"/>
                </a:solidFill>
              </a:rPr>
              <a:t>Content similarity: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18836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Covers text-based similarity across titles, authors, descriptions.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92040" y="215798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B954"/>
                </a:solidFill>
              </a:rPr>
              <a:t>Multi-source merge: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23317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Deduplication across two different sources — different schemas handled.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92040" y="26060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B954"/>
                </a:solidFill>
              </a:rPr>
              <a:t>Category coverage: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27797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11 engineering categories auto-assigned via keyword rules.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92040" y="305409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B954"/>
                </a:solidFill>
              </a:rPr>
              <a:t>Top-tier books: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32278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Focuses on the 150 highest-quality books — not noise in the long tail.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92040" y="350215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B954"/>
                </a:solidFill>
              </a:rPr>
              <a:t>Web discovery: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36758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Full Spotify-style browser: search, filter, author view, detail panel.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892040" y="39502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B954"/>
                </a:solidFill>
              </a:rPr>
              <a:t>Offline capable: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92040" y="41239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Single HTML file — works with no server, no internet (except covers).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365760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60520" cy="804672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75488" cy="804672"/>
          </a:xfrm>
          <a:prstGeom prst="rect">
            <a:avLst/>
          </a:prstGeom>
          <a:solidFill>
            <a:srgbClr val="1DB954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6984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🐼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32688" y="9144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pandas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115214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" kern="0" dirty="0">
                <a:solidFill>
                  <a:srgbClr val="1DB954"/>
                </a:solidFill>
              </a:rPr>
              <a:t>Data Engineering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32688" y="1335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868A0"/>
                </a:solidFill>
              </a:rPr>
              <a:t>Load, clean, merge, deduplicate 3,349 books across two schemas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800600" y="822960"/>
            <a:ext cx="4160520" cy="804672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822960"/>
            <a:ext cx="475488" cy="804672"/>
          </a:xfrm>
          <a:prstGeom prst="rect">
            <a:avLst/>
          </a:prstGeom>
          <a:solidFill>
            <a:srgbClr val="60A5FA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106984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🔢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367528" y="9144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numpy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67528" y="115214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" kern="0" dirty="0">
                <a:solidFill>
                  <a:srgbClr val="60A5FA"/>
                </a:solidFill>
              </a:rPr>
              <a:t>Matrix Operations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367528" y="13350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868A0"/>
                </a:solidFill>
              </a:rPr>
              <a:t>Store the 3,349×3,349 cosine similarity matrix; MinMaxScaler math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5760" y="1737360"/>
            <a:ext cx="4160520" cy="804672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1737360"/>
            <a:ext cx="475488" cy="804672"/>
          </a:xfrm>
          <a:prstGeom prst="rect">
            <a:avLst/>
          </a:prstGeom>
          <a:solidFill>
            <a:srgbClr val="FB923C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198424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🤖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32688" y="18288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scikit-learn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206654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" kern="0" dirty="0">
                <a:solidFill>
                  <a:srgbClr val="FB923C"/>
                </a:solidFill>
              </a:rPr>
              <a:t>ML Core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32688" y="22494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868A0"/>
                </a:solidFill>
              </a:rPr>
              <a:t>TfidfVectorizer (8,000 features), cosine_similarity, MinMaxScaler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800600" y="1737360"/>
            <a:ext cx="4160520" cy="804672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1737360"/>
            <a:ext cx="475488" cy="804672"/>
          </a:xfrm>
          <a:prstGeom prst="rect">
            <a:avLst/>
          </a:prstGeom>
          <a:solidFill>
            <a:srgbClr val="8B7CF8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198424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💾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367528" y="18288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joblib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67528" y="206654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" kern="0" dirty="0">
                <a:solidFill>
                  <a:srgbClr val="8B7CF8"/>
                </a:solidFill>
              </a:rPr>
              <a:t>Model Persistence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367528" y="22494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868A0"/>
                </a:solidFill>
              </a:rPr>
              <a:t>Serialise/deserialise the fitted TF-IDF vectoriser as .pkl file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65760" y="2651760"/>
            <a:ext cx="4160520" cy="804672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2651760"/>
            <a:ext cx="475488" cy="804672"/>
          </a:xfrm>
          <a:prstGeom prst="rect">
            <a:avLst/>
          </a:prstGeom>
          <a:solidFill>
            <a:srgbClr val="F0C040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289864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📊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32688" y="2743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matplotlib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32688" y="298094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" kern="0" dirty="0">
                <a:solidFill>
                  <a:srgbClr val="F0C040"/>
                </a:solidFill>
              </a:rPr>
              <a:t>Visualisation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32688" y="31638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868A0"/>
                </a:solidFill>
              </a:rPr>
              <a:t>5 evaluation charts: rating dist, category bar, score scatter, top10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800600" y="2651760"/>
            <a:ext cx="4160520" cy="804672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2651760"/>
            <a:ext cx="475488" cy="804672"/>
          </a:xfrm>
          <a:prstGeom prst="rect">
            <a:avLst/>
          </a:prstGeom>
          <a:solidFill>
            <a:srgbClr val="F87171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73752" y="289864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🎨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5367528" y="2743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seaborn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67528" y="298094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" kern="0" dirty="0">
                <a:solidFill>
                  <a:srgbClr val="F87171"/>
                </a:solidFill>
              </a:rPr>
              <a:t>Styled Plots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367528" y="31638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868A0"/>
                </a:solidFill>
              </a:rPr>
              <a:t>Cosine similarity heatmap with clean dark-mode styling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65760" y="3566160"/>
            <a:ext cx="4160520" cy="804672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65760" y="3566160"/>
            <a:ext cx="475488" cy="804672"/>
          </a:xfrm>
          <a:prstGeom prst="rect">
            <a:avLst/>
          </a:prstGeom>
          <a:solidFill>
            <a:srgbClr val="1DB954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8912" y="381304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📓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932688" y="36576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Jupyter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32688" y="389534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" kern="0" dirty="0">
                <a:solidFill>
                  <a:srgbClr val="1DB954"/>
                </a:solidFill>
              </a:rPr>
              <a:t>Exploration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932688" y="40782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868A0"/>
                </a:solidFill>
              </a:rPr>
              <a:t>10-section notebook: EDA → preprocessing → training → demo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800600" y="3566160"/>
            <a:ext cx="4160520" cy="804672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800600" y="3566160"/>
            <a:ext cx="475488" cy="804672"/>
          </a:xfrm>
          <a:prstGeom prst="rect">
            <a:avLst/>
          </a:prstGeom>
          <a:solidFill>
            <a:srgbClr val="60A5FA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73752" y="381304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🌐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5367528" y="36576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HTML/CSS/JS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367528" y="389534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" kern="0" dirty="0">
                <a:solidFill>
                  <a:srgbClr val="60A5FA"/>
                </a:solidFill>
              </a:rPr>
              <a:t>Web App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367528" y="40782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868A0"/>
                </a:solidFill>
              </a:rPr>
              <a:t>Spotify-style UI; zero dependencies, IntersectionObserver, fetch API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65760" y="4480560"/>
            <a:ext cx="4160520" cy="804672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65760" y="4480560"/>
            <a:ext cx="475488" cy="804672"/>
          </a:xfrm>
          <a:prstGeom prst="rect">
            <a:avLst/>
          </a:prstGeom>
          <a:solidFill>
            <a:srgbClr val="8B7CF8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8912" y="472744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🖼️</a:t>
            </a:r>
            <a:endParaRPr lang="en-US" sz="1700" dirty="0"/>
          </a:p>
        </p:txBody>
      </p:sp>
      <p:sp>
        <p:nvSpPr>
          <p:cNvPr id="55" name="Text 53"/>
          <p:cNvSpPr/>
          <p:nvPr/>
        </p:nvSpPr>
        <p:spPr>
          <a:xfrm>
            <a:off x="932688" y="45720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 Library API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932688" y="480974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" kern="0" dirty="0">
                <a:solidFill>
                  <a:srgbClr val="8B7CF8"/>
                </a:solidFill>
              </a:rPr>
              <a:t>Cover Images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932688" y="49926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868A0"/>
                </a:solidFill>
              </a:rPr>
              <a:t>Live cover fetch per book, cached in-memory, shimmer placeholders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800600" y="4480560"/>
            <a:ext cx="4160520" cy="804672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800600" y="4480560"/>
            <a:ext cx="475488" cy="804672"/>
          </a:xfrm>
          <a:prstGeom prst="rect">
            <a:avLst/>
          </a:prstGeom>
          <a:solidFill>
            <a:srgbClr val="6868A0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73752" y="472744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📑</a:t>
            </a:r>
            <a:endParaRPr lang="en-US" sz="1700" dirty="0"/>
          </a:p>
        </p:txBody>
      </p:sp>
      <p:sp>
        <p:nvSpPr>
          <p:cNvPr id="61" name="Text 59"/>
          <p:cNvSpPr/>
          <p:nvPr/>
        </p:nvSpPr>
        <p:spPr>
          <a:xfrm>
            <a:off x="5367528" y="45720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pptxgenjs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5367528" y="480974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" kern="0" dirty="0">
                <a:solidFill>
                  <a:srgbClr val="6868A0"/>
                </a:solidFill>
              </a:rPr>
              <a:t>This Report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367528" y="49926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868A0"/>
                </a:solidFill>
              </a:rPr>
              <a:t>Programmatically generated PPTX using Node.js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365760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 — The ML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057400" cy="1737360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33272" y="914400"/>
            <a:ext cx="530352" cy="530352"/>
          </a:xfrm>
          <a:prstGeom prst="ellipse">
            <a:avLst/>
          </a:prstGeom>
          <a:solidFill>
            <a:srgbClr val="1DB954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941832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A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84048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Load Raw CSVs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184708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868A0"/>
                </a:solidFill>
              </a:rPr>
              <a:t>2,375 Goodreads + 1,491 Google Books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868A0"/>
                </a:solidFill>
              </a:rPr>
              <a:t>Standardise column names across schemas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359152" y="1673352"/>
            <a:ext cx="109728" cy="0"/>
          </a:xfrm>
          <a:prstGeom prst="line">
            <a:avLst/>
          </a:prstGeom>
          <a:noFill/>
          <a:ln w="19050">
            <a:solidFill>
              <a:srgbClr val="2E2E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157276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68A0"/>
                </a:solidFill>
              </a:rPr>
              <a:t>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96312" y="804672"/>
            <a:ext cx="2057400" cy="1737360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55264" y="914400"/>
            <a:ext cx="530352" cy="530352"/>
          </a:xfrm>
          <a:prstGeom prst="ellipse">
            <a:avLst/>
          </a:prstGeom>
          <a:solidFill>
            <a:srgbClr val="60A5FA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55264" y="941832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A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60604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Preprocess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587752" y="184708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868A0"/>
                </a:solidFill>
              </a:rPr>
              <a:t>Fill nulls · Strip whitespace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868A0"/>
                </a:solidFill>
              </a:rPr>
              <a:t>Deduplicate → 3,349 unique books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81144" y="1673352"/>
            <a:ext cx="109728" cy="0"/>
          </a:xfrm>
          <a:prstGeom prst="line">
            <a:avLst/>
          </a:prstGeom>
          <a:noFill/>
          <a:ln w="19050">
            <a:solidFill>
              <a:srgbClr val="2E2E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5152" y="157276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68A0"/>
                </a:solidFill>
              </a:rPr>
              <a:t>›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18304" y="804672"/>
            <a:ext cx="2057400" cy="1737360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77256" y="914400"/>
            <a:ext cx="530352" cy="530352"/>
          </a:xfrm>
          <a:prstGeom prst="ellipse">
            <a:avLst/>
          </a:prstGeom>
          <a:solidFill>
            <a:srgbClr val="8B7CF8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77256" y="941832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A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828032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Categorise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9744" y="184708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868A0"/>
                </a:solidFill>
              </a:rPr>
              <a:t>Keyword rules on title+desc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868A0"/>
                </a:solidFill>
              </a:rPr>
              <a:t>11 engineering categories assigned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803136" y="1673352"/>
            <a:ext cx="109728" cy="0"/>
          </a:xfrm>
          <a:prstGeom prst="line">
            <a:avLst/>
          </a:prstGeom>
          <a:noFill/>
          <a:ln w="19050">
            <a:solidFill>
              <a:srgbClr val="2E2E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67144" y="157276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68A0"/>
                </a:solidFill>
              </a:rPr>
              <a:t>›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940296" y="804672"/>
            <a:ext cx="2057400" cy="1737360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99248" y="914400"/>
            <a:ext cx="530352" cy="530352"/>
          </a:xfrm>
          <a:prstGeom prst="ellipse">
            <a:avLst/>
          </a:prstGeom>
          <a:solidFill>
            <a:srgbClr val="F0C040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99248" y="941832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A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050024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TF-IDF Vectorise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031736" y="184708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868A0"/>
                </a:solidFill>
              </a:rPr>
              <a:t>title+author+desc → text blob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868A0"/>
                </a:solidFill>
              </a:rPr>
              <a:t>8,000-feature sparse matrix (3349×8000)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" y="2816352"/>
            <a:ext cx="2057400" cy="1737360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33272" y="2926080"/>
            <a:ext cx="530352" cy="530352"/>
          </a:xfrm>
          <a:prstGeom prst="ellipse">
            <a:avLst/>
          </a:prstGeom>
          <a:solidFill>
            <a:srgbClr val="FB923C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3272" y="2953512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A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384048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Cosine Similarity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65760" y="385876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868A0"/>
                </a:solidFill>
              </a:rPr>
              <a:t>Pairwise similarity for all books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868A0"/>
                </a:solidFill>
              </a:rPr>
              <a:t>3349×3349 matrix · values 0.0 → 1.0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359152" y="3685032"/>
            <a:ext cx="109728" cy="0"/>
          </a:xfrm>
          <a:prstGeom prst="line">
            <a:avLst/>
          </a:prstGeom>
          <a:noFill/>
          <a:ln w="19050">
            <a:solidFill>
              <a:srgbClr val="2E2E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23160" y="358444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68A0"/>
                </a:solidFill>
              </a:rPr>
              <a:t>›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2496312" y="2816352"/>
            <a:ext cx="2057400" cy="1737360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55264" y="2926080"/>
            <a:ext cx="530352" cy="530352"/>
          </a:xfrm>
          <a:prstGeom prst="ellipse">
            <a:avLst/>
          </a:prstGeom>
          <a:solidFill>
            <a:srgbClr val="F87171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55264" y="2953512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A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260604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Hybrid Scoring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2587752" y="385876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868A0"/>
                </a:solidFill>
              </a:rPr>
              <a:t>score = 0.6×rating + 0.4×log(count)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868A0"/>
                </a:solidFill>
              </a:rPr>
              <a:t>MinMaxScaler normalises both signals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581144" y="3685032"/>
            <a:ext cx="109728" cy="0"/>
          </a:xfrm>
          <a:prstGeom prst="line">
            <a:avLst/>
          </a:prstGeom>
          <a:noFill/>
          <a:ln w="19050">
            <a:solidFill>
              <a:srgbClr val="2E2E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45152" y="358444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68A0"/>
                </a:solidFill>
              </a:rPr>
              <a:t>›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4718304" y="2816352"/>
            <a:ext cx="2057400" cy="1737360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477256" y="2926080"/>
            <a:ext cx="530352" cy="530352"/>
          </a:xfrm>
          <a:prstGeom prst="ellipse">
            <a:avLst/>
          </a:prstGeom>
          <a:solidFill>
            <a:srgbClr val="1DB954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77256" y="2953512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A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4828032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Top 150 + Recs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809744" y="385876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868A0"/>
                </a:solidFill>
              </a:rPr>
              <a:t>nlargest(150, 'score')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868A0"/>
                </a:solidFill>
              </a:rPr>
              <a:t>Top-5 similar books per title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803136" y="3685032"/>
            <a:ext cx="109728" cy="0"/>
          </a:xfrm>
          <a:prstGeom prst="line">
            <a:avLst/>
          </a:prstGeom>
          <a:noFill/>
          <a:ln w="19050">
            <a:solidFill>
              <a:srgbClr val="2E2E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67144" y="358444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68A0"/>
                </a:solidFill>
              </a:rPr>
              <a:t>›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6940296" y="2816352"/>
            <a:ext cx="2057400" cy="1737360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699248" y="2926080"/>
            <a:ext cx="530352" cy="530352"/>
          </a:xfrm>
          <a:prstGeom prst="ellipse">
            <a:avLst/>
          </a:prstGeom>
          <a:solidFill>
            <a:srgbClr val="60A5FA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99248" y="2953512"/>
            <a:ext cx="5303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A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7050024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Save Artefacts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7031736" y="385876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868A0"/>
                </a:solidFill>
              </a:rPr>
              <a:t>tfidf.pkl · cosine_sim.npy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868A0"/>
                </a:solidFill>
              </a:rPr>
              <a:t>top_books.csv · recommendations.json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434840" y="2633472"/>
            <a:ext cx="0" cy="292608"/>
          </a:xfrm>
          <a:prstGeom prst="line">
            <a:avLst/>
          </a:prstGeom>
          <a:noFill/>
          <a:ln w="19050">
            <a:solidFill>
              <a:srgbClr val="2E2E4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15968" y="26791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68A0"/>
                </a:solidFill>
              </a:rPr>
              <a:t>↓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365760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ML Concepts — Simply Explained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3931920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114800" cy="347472"/>
          </a:xfrm>
          <a:prstGeom prst="rect">
            <a:avLst/>
          </a:prstGeom>
          <a:solidFill>
            <a:srgbClr val="1DB954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F"/>
                </a:solidFill>
              </a:rPr>
              <a:t>TF-IDF Vectorisation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B954"/>
                </a:solidFill>
              </a:rPr>
              <a:t>What it is: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68A0"/>
                </a:solidFill>
              </a:rPr>
              <a:t>Converts raw text into numbers that a machine can compare. Each book becomes a vector of 8,000 numbers.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0"/>
                </a:solidFill>
              </a:rPr>
              <a:t>TF  =  how often a word appears in this book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13969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F0"/>
                </a:solidFill>
              </a:rPr>
              <a:t>IDF =  how rare that word is across ALL books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423160"/>
            <a:ext cx="3749040" cy="274320"/>
          </a:xfrm>
          <a:prstGeom prst="rect">
            <a:avLst/>
          </a:prstGeom>
          <a:solidFill>
            <a:srgbClr val="1DB954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323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TF-IDF = TF × IDF  →  high score = "important and distinctive"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8163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B954"/>
                </a:solidFill>
              </a:rPr>
              <a:t>Example: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0175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"Algorithm" in a data-structures book: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→ High TF (appears often) + High IDF (rare in thermodynamics books)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→ HIGH TF-IDF — truly identifies this book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36118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B954"/>
                </a:solidFill>
              </a:rPr>
              <a:t>Settings we used: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813048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868A0"/>
                </a:solidFill>
              </a:rPr>
              <a:t>▸ max_features=8,000  (vocabulary size)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2920" y="3977640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868A0"/>
                </a:solidFill>
              </a:rPr>
              <a:t>▸ ngram_range=(1,2)  (words + word-pairs)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2920" y="4142232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868A0"/>
                </a:solidFill>
              </a:rPr>
              <a:t>▸ sublinear_tf=True  (log-scale TF)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2920" y="4306824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868A0"/>
                </a:solidFill>
              </a:rPr>
              <a:t>▸ stop_words='english'  (ignore 'the','and')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754880" y="822960"/>
            <a:ext cx="4023360" cy="3931920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822960"/>
            <a:ext cx="4023360" cy="347472"/>
          </a:xfrm>
          <a:prstGeom prst="rect">
            <a:avLst/>
          </a:prstGeom>
          <a:solidFill>
            <a:srgbClr val="8B7CF8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822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Cosine Similarity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12801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7CF8"/>
                </a:solidFill>
              </a:rPr>
              <a:t>What it is: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1481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68A0"/>
                </a:solidFill>
              </a:rPr>
              <a:t>Measures the angle between two book-vectors. Books with similar content will point in the same direction.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92040" y="19385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B954"/>
                </a:solidFill>
              </a:rPr>
              <a:t>Score = 1.0  →  identical content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92040" y="21396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C040"/>
                </a:solidFill>
              </a:rPr>
              <a:t>Score = 0.5  →  somewhat similar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92040" y="234086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</a:rPr>
              <a:t>Score = 0.0  →  completely unrelated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92040" y="26700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7CF8"/>
                </a:solidFill>
              </a:rPr>
              <a:t>Our results: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290779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68A0"/>
                </a:solidFill>
              </a:rPr>
              <a:t>Mean similarity: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269480" y="29077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B7CF8"/>
                </a:solidFill>
              </a:rPr>
              <a:t>0.30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92040" y="32369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68A0"/>
                </a:solidFill>
              </a:rPr>
              <a:t>Min similarity: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269480" y="32369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B7CF8"/>
                </a:solidFill>
              </a:rPr>
              <a:t>0.115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92040" y="35661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68A0"/>
                </a:solidFill>
              </a:rPr>
              <a:t>Max similarity: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269480" y="35661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B7CF8"/>
                </a:solidFill>
              </a:rPr>
              <a:t>1.0 (duplicates)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92040" y="389534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68A0"/>
                </a:solidFill>
              </a:rPr>
              <a:t>Intra-list diversity: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269480" y="389534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B7CF8"/>
                </a:solidFill>
              </a:rPr>
              <a:t>0.91 (good!)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92040" y="42519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7CF8"/>
                </a:solidFill>
              </a:rPr>
              <a:t>Hybrid Score Formula: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92040" y="4462272"/>
            <a:ext cx="3749040" cy="228600"/>
          </a:xfrm>
          <a:prstGeom prst="rect">
            <a:avLst/>
          </a:prstGeom>
          <a:solidFill>
            <a:srgbClr val="1C1C2A"/>
          </a:solidFill>
          <a:ln w="6350">
            <a:solidFill>
              <a:srgbClr val="2E2E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44622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0.60 × rating_norm  +  0.40 × log(count)_norm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365760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Evaluation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1600200" cy="1371600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686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B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6642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Coverage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86537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868A0"/>
                </a:solidFill>
              </a:rPr>
              <a:t>Every top book has ≥1 recommendation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103120" y="822960"/>
            <a:ext cx="1600200" cy="1371600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03120" y="8686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103120" y="1188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103120" y="16642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Avg Similarity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03120" y="186537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868A0"/>
                </a:solidFill>
              </a:rPr>
              <a:t>Mean cosine sim of all top-5 recs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840480" y="822960"/>
            <a:ext cx="1600200" cy="1371600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0" y="8686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🌈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840480" y="1188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7C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0.91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840480" y="16642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Intra-list Diversity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40480" y="186537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868A0"/>
                </a:solidFill>
              </a:rPr>
              <a:t>Recs are varied, not repetitive clones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577840" y="822960"/>
            <a:ext cx="1600200" cy="1371600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77840" y="8686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📂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577840" y="1188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C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8.8%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577840" y="16642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Category Precision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77840" y="186537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868A0"/>
                </a:solidFill>
              </a:rPr>
              <a:t>Cross-category recs by design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315200" y="822960"/>
            <a:ext cx="1600200" cy="1371600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0" y="8686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315200" y="1188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871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−0.37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315200" y="16642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Avg Rating Lift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0" y="186537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868A0"/>
                </a:solidFill>
              </a:rPr>
              <a:t>Recs slightly lower-rated but more diverse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65760" y="2423160"/>
            <a:ext cx="8412480" cy="2331720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" y="2514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Understanding the Metrics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287121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B954"/>
                </a:solidFill>
              </a:rPr>
              <a:t>▸ Coverage 100%: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307238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The model never fails to return results. Every book in the top-150 has at least 5 similar books found. This is expected because our corpus is large enough.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09160" y="287121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B954"/>
                </a:solidFill>
              </a:rPr>
              <a:t>▸ Avg Similarity 0.30: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09160" y="307238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A mean of 0.30 out of 1.0 sounds low, but in high-dimensional TF-IDF space this is actually meaningful similarity. Perfectly similar documents score 1.0, but real-world distinct books scoring 0.3+ share genuine topical overlap.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48640" y="355701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B954"/>
                </a:solidFill>
              </a:rPr>
              <a:t>▸ Diversity 0.91: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375818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High intra-list diversity (0.91/1.0) means the 5 recommendations per book are themselves quite different from each other — you get a varied reading list, not 5 nearly-identical books.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09160" y="355701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B954"/>
                </a:solidFill>
              </a:rPr>
              <a:t>▸ Category Precision 8.8%: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09160" y="375818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Low on purpose. We deliberately used cross-category recommendations — an AI/ML book might recommend a Databases book because descriptions overlap. This is richer than category-only filtering.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365760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Vertical Scaling — Making It More Solid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868A0"/>
                </a:solidFill>
              </a:rPr>
              <a:t>These improvements strengthen what already exists — better accuracy, reliability, and data quality.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4160520" cy="1783080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70432"/>
            <a:ext cx="4160520" cy="292608"/>
          </a:xfrm>
          <a:prstGeom prst="rect">
            <a:avLst/>
          </a:prstGeom>
          <a:solidFill>
            <a:srgbClr val="1DB954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704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F"/>
                </a:solidFill>
              </a:rPr>
              <a:t>Data Quality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536192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▸  Scrape full descriptions for the 624 (26%) missing ones via Google Books API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75488" y="1874520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▸  Normalise author names (e.g. 'J.K. Rowling' vs 'Rowling, J.K.' are same person)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75488" y="2212848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▸  Validate &amp; clean year field (year=1 is clearly wrong — needs filtering)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5488" y="2551176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▸  ISBN-based deduplication instead of title-only (catches subtitle variations)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800600" y="1170432"/>
            <a:ext cx="4160520" cy="1783080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1170432"/>
            <a:ext cx="4160520" cy="292608"/>
          </a:xfrm>
          <a:prstGeom prst="rect">
            <a:avLst/>
          </a:prstGeom>
          <a:solidFill>
            <a:srgbClr val="60A5FA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11704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F"/>
                </a:solidFill>
              </a:rPr>
              <a:t>Model Accuracy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10328" y="1536192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▸  Replace TF-IDF with sentence-transformer embeddings (SBERT) for semantic similarity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910328" y="1874520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▸  Tune TF-IDF n-gram range (try 1-3) and max_features (10K, 15K) — measure improvement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910328" y="2212848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▸  Use BM25 ranking instead of raw TF-IDF for better term weighting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910328" y="2551176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▸  Cross-validate hybrid score weights (currently hardcoded 60/40 — tune via grid search)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108960"/>
            <a:ext cx="4160520" cy="1783080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108960"/>
            <a:ext cx="4160520" cy="292608"/>
          </a:xfrm>
          <a:prstGeom prst="rect">
            <a:avLst/>
          </a:prstGeom>
          <a:solidFill>
            <a:srgbClr val="8B7CF8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108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F"/>
                </a:solidFill>
              </a:rPr>
              <a:t>Robustness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" y="3474720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▸  Add unit tests for preprocess.py and train_model.py (pytest suite)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813048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▸  Add logging and exception handling in all scripts (silent failures are dangerous)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4151376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▸  Version the model artefacts (model_v1.pkl, model_v2.pkl) so rollback is possible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4489704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▸  Cache cosine_sim matrix computation — only recompute when new data is added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00600" y="3108960"/>
            <a:ext cx="4160520" cy="1783080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3108960"/>
            <a:ext cx="4160520" cy="292608"/>
          </a:xfrm>
          <a:prstGeom prst="rect">
            <a:avLst/>
          </a:prstGeom>
          <a:solidFill>
            <a:srgbClr val="F0C040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0328" y="3108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F"/>
                </a:solidFill>
              </a:rPr>
              <a:t>Cover Images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10328" y="3474720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▸  Pre-fetch and store all cover images locally during training (remove live API dependency)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910328" y="3813048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▸  Fall back chain: Open Library → Google Books → ISBN thumbnail → generated gradient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910328" y="4151376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▸  Use ISBN from Dataset 2 for more accurate Open Library lookups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910328" y="4489704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▸  Add image caching layer with TTL to avoid rate-limiting Open Library API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365760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Horizontal Scaling — New Features to Add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868A0"/>
                </a:solidFill>
              </a:rPr>
              <a:t>These are additive expansions — new capabilities that broaden the system's value.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52144"/>
            <a:ext cx="2084832" cy="1572768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52144"/>
            <a:ext cx="2084832" cy="274320"/>
          </a:xfrm>
          <a:prstGeom prst="rect">
            <a:avLst/>
          </a:prstGeom>
          <a:solidFill>
            <a:srgbClr val="1DB954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7043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10512" y="1197864"/>
            <a:ext cx="502920" cy="173736"/>
          </a:xfrm>
          <a:prstGeom prst="roundRect">
            <a:avLst>
              <a:gd name="adj" fmla="val 21053"/>
            </a:avLst>
          </a:prstGeom>
          <a:solidFill>
            <a:srgbClr val="F87171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10512" y="1197864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65760" y="147218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Collaborative Filtering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1746504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68A0"/>
                </a:solidFill>
              </a:rPr>
              <a:t>Track which books users click/save. Users who liked X also liked Y. Needs user DB. Combine with content-based for a hybrid system (Netflix-style).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487168" y="1152144"/>
            <a:ext cx="2084832" cy="1572768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87168" y="1152144"/>
            <a:ext cx="2084832" cy="274320"/>
          </a:xfrm>
          <a:prstGeom prst="rect">
            <a:avLst/>
          </a:prstGeom>
          <a:solidFill>
            <a:srgbClr val="F0C040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117043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⭐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023360" y="1197864"/>
            <a:ext cx="502920" cy="173736"/>
          </a:xfrm>
          <a:prstGeom prst="roundRect">
            <a:avLst>
              <a:gd name="adj" fmla="val 21053"/>
            </a:avLst>
          </a:prstGeom>
          <a:solidFill>
            <a:srgbClr val="F0C040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0" y="1197864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Medium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578608" y="147218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Rating Predictor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78608" y="1746504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68A0"/>
                </a:solidFill>
              </a:rPr>
              <a:t>Train a regression model to predict a book's rating from its description + metadata. Lets unrated books (6.8% of Dataset 2) get a predicted score.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700016" y="1152144"/>
            <a:ext cx="2084832" cy="1572768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0016" y="1152144"/>
            <a:ext cx="2084832" cy="274320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117043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🔌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36208" y="1197864"/>
            <a:ext cx="502920" cy="173736"/>
          </a:xfrm>
          <a:prstGeom prst="roundRect">
            <a:avLst>
              <a:gd name="adj" fmla="val 21053"/>
            </a:avLst>
          </a:prstGeom>
          <a:solidFill>
            <a:srgbClr val="F0C040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1197864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Medium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791456" y="147218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REST API (FastAPI)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91456" y="1746504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68A0"/>
                </a:solidFill>
              </a:rPr>
              <a:t>Expose /recommend?title=X endpoint. Allows Bookify to power mobile apps, browser extensions, or chatbot integrations. Containerise with Docker.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912864" y="1152144"/>
            <a:ext cx="2084832" cy="1572768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12864" y="1152144"/>
            <a:ext cx="2084832" cy="274320"/>
          </a:xfrm>
          <a:prstGeom prst="rect">
            <a:avLst/>
          </a:prstGeom>
          <a:solidFill>
            <a:srgbClr val="8B7CF8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86016" y="117043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🧑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449056" y="1197864"/>
            <a:ext cx="502920" cy="173736"/>
          </a:xfrm>
          <a:prstGeom prst="roundRect">
            <a:avLst>
              <a:gd name="adj" fmla="val 21053"/>
            </a:avLst>
          </a:prstGeom>
          <a:solidFill>
            <a:srgbClr val="F87171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49056" y="1197864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004304" y="147218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User Profiles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004304" y="1746504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68A0"/>
                </a:solidFill>
              </a:rPr>
              <a:t>Let users create accounts, save books, rate them. Enables personalised recommendation re-ranking. Needs backend DB (PostgreSQL/Supabase).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2843784"/>
            <a:ext cx="2084832" cy="1572768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2843784"/>
            <a:ext cx="2084832" cy="274320"/>
          </a:xfrm>
          <a:prstGeom prst="rect">
            <a:avLst/>
          </a:prstGeom>
          <a:solidFill>
            <a:srgbClr val="FB923C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286207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🔍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810512" y="2889504"/>
            <a:ext cx="502920" cy="173736"/>
          </a:xfrm>
          <a:prstGeom prst="roundRect">
            <a:avLst>
              <a:gd name="adj" fmla="val 21053"/>
            </a:avLst>
          </a:prstGeom>
          <a:solidFill>
            <a:srgbClr val="F0C040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10512" y="2889504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Medium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65760" y="316382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Semantic Search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65760" y="3438144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68A0"/>
                </a:solidFill>
              </a:rPr>
              <a:t>Replace keyword search with SBERT embeddings. User types 'I want to learn system design' → finds most semantically relevant books, not just keyword matches.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487168" y="2843784"/>
            <a:ext cx="2084832" cy="1572768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487168" y="2843784"/>
            <a:ext cx="2084832" cy="274320"/>
          </a:xfrm>
          <a:prstGeom prst="rect">
            <a:avLst/>
          </a:prstGeom>
          <a:solidFill>
            <a:srgbClr val="F87171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0" y="286207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🧠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023360" y="2889504"/>
            <a:ext cx="502920" cy="173736"/>
          </a:xfrm>
          <a:prstGeom prst="roundRect">
            <a:avLst>
              <a:gd name="adj" fmla="val 21053"/>
            </a:avLst>
          </a:prstGeom>
          <a:solidFill>
            <a:srgbClr val="1DB954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23360" y="2889504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Low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2578608" y="316382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LLM-Powered Summaries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578608" y="3438144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68A0"/>
                </a:solidFill>
              </a:rPr>
              <a:t>Use an LLM API (Gemini/Claude) to generate 3-sentence 'why you'd like this' explanations for each recommendation. Massive UX improvement, easy to add.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700016" y="2843784"/>
            <a:ext cx="2084832" cy="1572768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00016" y="2843784"/>
            <a:ext cx="2084832" cy="274320"/>
          </a:xfrm>
          <a:prstGeom prst="rect">
            <a:avLst/>
          </a:prstGeom>
          <a:solidFill>
            <a:srgbClr val="1DB954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73168" y="286207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🔄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236208" y="2889504"/>
            <a:ext cx="502920" cy="173736"/>
          </a:xfrm>
          <a:prstGeom prst="roundRect">
            <a:avLst>
              <a:gd name="adj" fmla="val 21053"/>
            </a:avLst>
          </a:prstGeom>
          <a:solidFill>
            <a:srgbClr val="F87171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36208" y="2889504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791456" y="316382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Live Data Pipeline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791456" y="3438144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68A0"/>
                </a:solidFill>
              </a:rPr>
              <a:t>Automate monthly data refresh via Goodreads RSS or Google Books API. Auto-retrain and redeploy. Add new books without manual CSV downloads.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912864" y="2843784"/>
            <a:ext cx="2084832" cy="1572768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912864" y="2843784"/>
            <a:ext cx="2084832" cy="274320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86016" y="286207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📱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8449056" y="2889504"/>
            <a:ext cx="502920" cy="173736"/>
          </a:xfrm>
          <a:prstGeom prst="roundRect">
            <a:avLst>
              <a:gd name="adj" fmla="val 21053"/>
            </a:avLst>
          </a:prstGeom>
          <a:solidFill>
            <a:srgbClr val="F87171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449056" y="2889504"/>
            <a:ext cx="502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7004304" y="3163824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Mobile App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004304" y="3438144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68A0"/>
                </a:solidFill>
              </a:rPr>
              <a:t>Wrap the HTML app in a React Native or Capacitor shell. Add offline reading lists, push notifications for new books in your favourite category.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36576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Difficulty: 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1234440" y="4864608"/>
            <a:ext cx="640080" cy="164592"/>
          </a:xfrm>
          <a:prstGeom prst="roundRect">
            <a:avLst>
              <a:gd name="adj" fmla="val 22222"/>
            </a:avLst>
          </a:prstGeom>
          <a:solidFill>
            <a:srgbClr val="1DB954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234440" y="486460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Low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148840" y="4864608"/>
            <a:ext cx="640080" cy="164592"/>
          </a:xfrm>
          <a:prstGeom prst="roundRect">
            <a:avLst>
              <a:gd name="adj" fmla="val 22222"/>
            </a:avLst>
          </a:prstGeom>
          <a:solidFill>
            <a:srgbClr val="F0C040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148840" y="486460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Medium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063240" y="4864608"/>
            <a:ext cx="640080" cy="164592"/>
          </a:xfrm>
          <a:prstGeom prst="roundRect">
            <a:avLst>
              <a:gd name="adj" fmla="val 22222"/>
            </a:avLst>
          </a:prstGeom>
          <a:solidFill>
            <a:srgbClr val="F87171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063240" y="486460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365760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Related Projects &amp; What Makes Bookify Different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366760" cy="749808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182880" cy="749808"/>
          </a:xfrm>
          <a:prstGeom prst="rect">
            <a:avLst/>
          </a:prstGeom>
          <a:solidFill>
            <a:srgbClr val="1DB95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868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Goodreads Recommender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106070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B954"/>
                </a:solidFill>
              </a:rPr>
              <a:t>Multiple on Kaggle/GitHub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971800" y="868680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How: TF-IDF or collaborative filtering on the same Goodreads data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035040" y="841248"/>
            <a:ext cx="2606040" cy="658368"/>
          </a:xfrm>
          <a:prstGeom prst="rect">
            <a:avLst/>
          </a:prstGeom>
          <a:solidFill>
            <a:srgbClr val="1C1C2A"/>
          </a:solidFill>
          <a:ln w="6350">
            <a:solidFill>
              <a:srgbClr val="2E2E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88696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B954"/>
                </a:solidFill>
              </a:rPr>
              <a:t>vs Bookify: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126480" y="105156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68A0"/>
                </a:solidFill>
              </a:rPr>
              <a:t>Generic fiction/non-fiction. No domain focus. No UI. Jupyter notebooks only.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65760" y="1673352"/>
            <a:ext cx="8366760" cy="749808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673352"/>
            <a:ext cx="182880" cy="749808"/>
          </a:xfrm>
          <a:prstGeom prst="rect">
            <a:avLst/>
          </a:prstGeom>
          <a:solidFill>
            <a:srgbClr val="60A5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17190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Google Books Rec System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191109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A5FA"/>
                </a:solidFill>
              </a:rPr>
              <a:t>Various student projects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971800" y="1719072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How: Uses Google Books API metadata and ratings to recommend books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35040" y="1691640"/>
            <a:ext cx="2606040" cy="658368"/>
          </a:xfrm>
          <a:prstGeom prst="rect">
            <a:avLst/>
          </a:prstGeom>
          <a:solidFill>
            <a:srgbClr val="1C1C2A"/>
          </a:solidFill>
          <a:ln w="6350">
            <a:solidFill>
              <a:srgbClr val="2E2E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73736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B954"/>
                </a:solidFill>
              </a:rPr>
              <a:t>vs Bookify: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126480" y="190195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68A0"/>
                </a:solidFill>
              </a:rPr>
              <a:t>Relies purely on category tags, not text content. Single data source.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65760" y="2523744"/>
            <a:ext cx="8366760" cy="749808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523744"/>
            <a:ext cx="182880" cy="749808"/>
          </a:xfrm>
          <a:prstGeom prst="rect">
            <a:avLst/>
          </a:prstGeom>
          <a:solidFill>
            <a:srgbClr val="8B7C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25694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LibraryThing Recs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" y="27614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7CF8"/>
                </a:solidFill>
              </a:rPr>
              <a:t>LibraryThing.com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971800" y="2569464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How: Collaborative filtering — users who own the same books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035040" y="2542032"/>
            <a:ext cx="2606040" cy="658368"/>
          </a:xfrm>
          <a:prstGeom prst="rect">
            <a:avLst/>
          </a:prstGeom>
          <a:solidFill>
            <a:srgbClr val="1C1C2A"/>
          </a:solidFill>
          <a:ln w="6350">
            <a:solidFill>
              <a:srgbClr val="2E2E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258775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B954"/>
                </a:solidFill>
              </a:rPr>
              <a:t>vs Bookify: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26480" y="2752344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68A0"/>
                </a:solidFill>
              </a:rPr>
              <a:t>Needs user interaction data. Black-box. Not reproducible ML project.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65760" y="3374136"/>
            <a:ext cx="8366760" cy="749808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374136"/>
            <a:ext cx="182880" cy="749808"/>
          </a:xfrm>
          <a:prstGeom prst="rect">
            <a:avLst/>
          </a:prstGeom>
          <a:solidFill>
            <a:srgbClr val="F0C0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341985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Amazon Book Recommender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" y="36118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C040"/>
                </a:solidFill>
              </a:rPr>
              <a:t>Amazon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971800" y="3419856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How: Hybrid: item-item collaborative + content features + purchase history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035040" y="3392424"/>
            <a:ext cx="2606040" cy="658368"/>
          </a:xfrm>
          <a:prstGeom prst="rect">
            <a:avLst/>
          </a:prstGeom>
          <a:solidFill>
            <a:srgbClr val="1C1C2A"/>
          </a:solidFill>
          <a:ln w="6350">
            <a:solidFill>
              <a:srgbClr val="2E2E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343814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B954"/>
                </a:solidFill>
              </a:rPr>
              <a:t>vs Bookify: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26480" y="3602736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68A0"/>
                </a:solidFill>
              </a:rPr>
              <a:t>Proprietary. Requires massive transaction data. Not feasible at student scale.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65760" y="4224528"/>
            <a:ext cx="8366760" cy="749808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" y="4224528"/>
            <a:ext cx="182880" cy="749808"/>
          </a:xfrm>
          <a:prstGeom prst="rect">
            <a:avLst/>
          </a:prstGeom>
          <a:solidFill>
            <a:srgbClr val="F8717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" y="42702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Semantic Scholar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8368" y="446227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7171"/>
                </a:solidFill>
              </a:rPr>
              <a:t>Allen Institute for AI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971800" y="4270248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How: Citation graphs + SPECTER embeddings for academic paper recommendations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035040" y="4242816"/>
            <a:ext cx="2606040" cy="658368"/>
          </a:xfrm>
          <a:prstGeom prst="rect">
            <a:avLst/>
          </a:prstGeom>
          <a:solidFill>
            <a:srgbClr val="1C1C2A"/>
          </a:solidFill>
          <a:ln w="6350">
            <a:solidFill>
              <a:srgbClr val="2E2E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26480" y="428853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B954"/>
                </a:solidFill>
              </a:rPr>
              <a:t>vs Bookify: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126480" y="4453128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68A0"/>
                </a:solidFill>
              </a:rPr>
              <a:t>Academic papers only, not books. Citation data unavailable for books.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65760" y="5074920"/>
            <a:ext cx="8366760" cy="475488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48640" y="5120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C040"/>
                </a:solidFill>
              </a:rPr>
              <a:t>🌟  What Makes Bookify Different: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926080" y="51206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8F0"/>
                </a:solidFill>
              </a:rPr>
              <a:t>Engineering-domain focused  ·  Dual-source merged dataset  ·  Spotify-style UI  ·  Offline self-contained HTML  ·  Fully reproducible open pipeline  ·  Live cover images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365760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Foundation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1920240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solidFill>
            <a:srgbClr val="1DB954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F"/>
                </a:solidFill>
              </a:rPr>
              <a:t>📄  Base Research Paper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22529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Survey of Collaborative Filtering Techniques"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68A0"/>
                </a:solidFill>
              </a:rPr>
              <a:t>Su, X. &amp; Khoshgoftaar, T.M. (2009)  ·  Advances in Artificial Intelligence, Hindawi Publishing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71907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DB954"/>
                </a:solidFill>
              </a:rPr>
              <a:t>DOI: 10.1155/2009/421425  ·  Cited by 4,000+ papers  ·  One of the most cited recommender system surveys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4114800" cy="2331720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9077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B954"/>
                </a:solidFill>
              </a:rPr>
              <a:t>What the Paper Covers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25526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96112" y="32644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</a:rPr>
              <a:t>Defines the three fundamental recommendation approaches: Content-Based, Collaborative Filtering, and Hybrid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5844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6112" y="35935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</a:rPr>
              <a:t>Establishes TF-IDF as the standard baseline for content-based text similarity — exactly what Bookify implements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9136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6112" y="39227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</a:rPr>
              <a:t>Defines cosine similarity as the preferred distance metric for sparse high-dimensional text vectors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24281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6112" y="42519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</a:rPr>
              <a:t>Proposes hybrid scoring (combining multiple signals) as superior to single-metric ranking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5720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▸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6112" y="45811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</a:rPr>
              <a:t>Identifies cold-start problem as the core limitation of collaborative filtering systems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90118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▸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6112" y="49103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</a:rPr>
              <a:t>Benchmarks coverage, precision, and diversity as the key evaluation metrics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834640"/>
            <a:ext cx="4023360" cy="2331720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7760" y="29077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7CF8"/>
                </a:solidFill>
              </a:rPr>
              <a:t>How Bookify Implements It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321868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" kern="0" dirty="0">
                <a:solidFill>
                  <a:srgbClr val="6868A0"/>
                </a:solidFill>
              </a:rPr>
              <a:t>Paper recommendation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675120" y="321868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" kern="0" dirty="0">
                <a:solidFill>
                  <a:srgbClr val="6868A0"/>
                </a:solidFill>
              </a:rPr>
              <a:t>Bookify implementation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92040" y="354787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TF-IDF for text features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675120" y="35478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0"/>
                </a:solidFill>
              </a:rPr>
              <a:t>✅ TfidfVectorizer, 8K features, bigrams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92040" y="387705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Cosine similarity metric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675120" y="38770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0"/>
                </a:solidFill>
              </a:rPr>
              <a:t>✅ cosine_similarity full N×N matrix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92040" y="420624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Content-based baseline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675120" y="42062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0"/>
                </a:solidFill>
              </a:rPr>
              <a:t>✅ Core model — title+author+desc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92040" y="453542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Hybrid signal combination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675120" y="453542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0"/>
                </a:solidFill>
              </a:rPr>
              <a:t>✅ 60% rating + 40% log-popularity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892040" y="486460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Coverage metric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675120" y="48646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0"/>
                </a:solidFill>
              </a:rPr>
              <a:t>✅ 100% coverage measured in evaluate.py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92040" y="519379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Diversity evaluation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675120" y="51937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E8F0"/>
                </a:solidFill>
              </a:rPr>
              <a:t>✅ Intra-list diversity = 0.91 measured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365760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Solution — Beyond the Paper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868A0"/>
                </a:solidFill>
              </a:rPr>
              <a:t>The research paper establishes the baseline. Here is what Bookify proposes as the next evolution: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52144"/>
            <a:ext cx="8366760" cy="822960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52144"/>
            <a:ext cx="1005840" cy="822960"/>
          </a:xfrm>
          <a:prstGeom prst="rect">
            <a:avLst/>
          </a:prstGeom>
          <a:solidFill>
            <a:srgbClr val="1DB954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2529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F"/>
                </a:solidFill>
              </a:rPr>
              <a:t>Phase 1 (Now)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609344"/>
            <a:ext cx="914400" cy="164592"/>
          </a:xfrm>
          <a:prstGeom prst="roundRect">
            <a:avLst>
              <a:gd name="adj" fmla="val 22222"/>
            </a:avLst>
          </a:prstGeom>
          <a:solidFill>
            <a:srgbClr val="F0C040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1848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Med effort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417320" y="1152144"/>
            <a:ext cx="54864" cy="822960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12252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Semantic Embeddings Replace TF-IDF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54480" y="149961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Replace TF-IDF with SBERT (Sentence-BERT, all-MiniLM-L6-v2). Converts descriptions to dense 384-dim vectors that capture meaning, not just keywords. 'Neural network architecture' and 'deep learning structure' become similar — TF-IDF cannot do this.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132320" y="1261872"/>
            <a:ext cx="1463040" cy="219456"/>
          </a:xfrm>
          <a:prstGeom prst="roundRect">
            <a:avLst>
              <a:gd name="adj" fmla="val 25000"/>
            </a:avLst>
          </a:prstGeom>
          <a:solidFill>
            <a:srgbClr val="F0C040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12618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Impact: High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2066544"/>
            <a:ext cx="8366760" cy="822960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066544"/>
            <a:ext cx="1005840" cy="822960"/>
          </a:xfrm>
          <a:prstGeom prst="rect">
            <a:avLst/>
          </a:prstGeom>
          <a:solidFill>
            <a:srgbClr val="60A5FA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13969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F"/>
                </a:solidFill>
              </a:rPr>
              <a:t>Phase 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2523744"/>
            <a:ext cx="914400" cy="164592"/>
          </a:xfrm>
          <a:prstGeom prst="roundRect">
            <a:avLst>
              <a:gd name="adj" fmla="val 22222"/>
            </a:avLst>
          </a:prstGeom>
          <a:solidFill>
            <a:srgbClr val="1DB954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53288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Low effort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417320" y="2066544"/>
            <a:ext cx="54864" cy="82296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1" name="Text 19"/>
          <p:cNvSpPr/>
          <p:nvPr/>
        </p:nvSpPr>
        <p:spPr>
          <a:xfrm>
            <a:off x="1554480" y="21396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LLM-Enhanced Re-Ranking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54480" y="241401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After finding top-20 similar books via cosine similarity, pass them to a lightweight LLM (Gemini Flash / Claude Haiku) to re-rank based on user's stated reading level, goal ('I want to learn X'), and already-read books. Zero additional training needed.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132320" y="2176272"/>
            <a:ext cx="1463040" cy="219456"/>
          </a:xfrm>
          <a:prstGeom prst="roundRect">
            <a:avLst>
              <a:gd name="adj" fmla="val 25000"/>
            </a:avLst>
          </a:prstGeom>
          <a:solidFill>
            <a:srgbClr val="1DB954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21762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Impact: Very High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2980944"/>
            <a:ext cx="8366760" cy="822960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2980944"/>
            <a:ext cx="1005840" cy="822960"/>
          </a:xfrm>
          <a:prstGeom prst="rect">
            <a:avLst/>
          </a:prstGeom>
          <a:solidFill>
            <a:srgbClr val="8B7CF8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05409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F"/>
                </a:solidFill>
              </a:rPr>
              <a:t>Phase 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1480" y="3438144"/>
            <a:ext cx="914400" cy="164592"/>
          </a:xfrm>
          <a:prstGeom prst="roundRect">
            <a:avLst>
              <a:gd name="adj" fmla="val 22222"/>
            </a:avLst>
          </a:prstGeom>
          <a:solidFill>
            <a:srgbClr val="F87171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44728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High effort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417320" y="2980944"/>
            <a:ext cx="54864" cy="822960"/>
          </a:xfrm>
          <a:prstGeom prst="rect">
            <a:avLst/>
          </a:prstGeom>
          <a:solidFill>
            <a:srgbClr val="8B7CF8"/>
          </a:solidFill>
          <a:ln/>
        </p:spPr>
      </p:sp>
      <p:sp>
        <p:nvSpPr>
          <p:cNvPr id="31" name="Text 29"/>
          <p:cNvSpPr/>
          <p:nvPr/>
        </p:nvSpPr>
        <p:spPr>
          <a:xfrm>
            <a:off x="1554480" y="30540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Implicit Feedback Collaborative Layer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554480" y="332841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Collect click data (which books users open, how long they spend on detail panel) as implicit feedback signals. No explicit ratings needed. Train a matrix factorisation model on this interaction data and combine with content similarity as a hybrid system.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132320" y="3090672"/>
            <a:ext cx="1463040" cy="219456"/>
          </a:xfrm>
          <a:prstGeom prst="roundRect">
            <a:avLst>
              <a:gd name="adj" fmla="val 25000"/>
            </a:avLst>
          </a:prstGeom>
          <a:solidFill>
            <a:srgbClr val="1DB954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0" y="30906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Impact: Very High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65760" y="3895344"/>
            <a:ext cx="8366760" cy="822960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3895344"/>
            <a:ext cx="1005840" cy="822960"/>
          </a:xfrm>
          <a:prstGeom prst="rect">
            <a:avLst/>
          </a:prstGeom>
          <a:solidFill>
            <a:srgbClr val="F0C040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96849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F"/>
                </a:solidFill>
              </a:rPr>
              <a:t>Phase 4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4352544"/>
            <a:ext cx="914400" cy="164592"/>
          </a:xfrm>
          <a:prstGeom prst="roundRect">
            <a:avLst>
              <a:gd name="adj" fmla="val 22222"/>
            </a:avLst>
          </a:prstGeom>
          <a:solidFill>
            <a:srgbClr val="F87171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36168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High effort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1417320" y="3895344"/>
            <a:ext cx="54864" cy="822960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41" name="Text 39"/>
          <p:cNvSpPr/>
          <p:nvPr/>
        </p:nvSpPr>
        <p:spPr>
          <a:xfrm>
            <a:off x="1554480" y="39684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Knowledge Graph Integration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554480" y="424281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68A0"/>
                </a:solidFill>
              </a:rPr>
              <a:t>Build a book knowledge graph where nodes are books, authors, topics, publishers. Edges represent 'same author', 'similar topic', 'same publisher series'. Graph-based recommendations surface non-obvious connections TF-IDF misses.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132320" y="4005072"/>
            <a:ext cx="1463040" cy="219456"/>
          </a:xfrm>
          <a:prstGeom prst="roundRect">
            <a:avLst>
              <a:gd name="adj" fmla="val 25000"/>
            </a:avLst>
          </a:prstGeom>
          <a:solidFill>
            <a:srgbClr val="F0C040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32320" y="40050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Impact: High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3657600" cy="3657600"/>
          </a:xfrm>
          <a:prstGeom prst="ellipse">
            <a:avLst/>
          </a:prstGeom>
          <a:solidFill>
            <a:srgbClr val="1DB95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743200"/>
            <a:ext cx="3657600" cy="3657600"/>
          </a:xfrm>
          <a:prstGeom prst="ellipse">
            <a:avLst/>
          </a:prstGeom>
          <a:solidFill>
            <a:srgbClr val="8B7CF8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Was Built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743200" cy="1188720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111556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Complete ML Project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26464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A0"/>
                </a:solidFill>
              </a:rPr>
              <a:t>Preprocessing → Training → Evaluation → Web App in one reproducible folder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743200" cy="1188720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886200" y="111556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Trained ML Model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1426464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A0"/>
                </a:solidFill>
              </a:rPr>
              <a:t>TF-IDF (8K features) + Cosine Similarity on 3,349 engineering books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1005840"/>
            <a:ext cx="2743200" cy="1188720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12280" y="111556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Spotify-style UI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1426464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A0"/>
                </a:solidFill>
              </a:rPr>
              <a:t>Offline HTML app with shelves, detail panel, author view, live covers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377440"/>
            <a:ext cx="2743200" cy="1188720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📓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60120" y="248716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10-Section Notebook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2798064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A0"/>
                </a:solidFill>
              </a:rPr>
              <a:t>Full EDA to demo — every concept explained for non-ML audience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91840" y="2377440"/>
            <a:ext cx="2743200" cy="1188720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8328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886200" y="248716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 Evaluation Plots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2798064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A0"/>
                </a:solidFill>
              </a:rPr>
              <a:t>Rating distribution, category breakdown, score scatter, top-10, heatmap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2377440"/>
            <a:ext cx="2743200" cy="1188720"/>
          </a:xfrm>
          <a:prstGeom prst="rect">
            <a:avLst/>
          </a:prstGeom>
          <a:solidFill>
            <a:srgbClr val="242436"/>
          </a:solidFill>
          <a:ln w="6350">
            <a:solidFill>
              <a:srgbClr val="2E2E44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0936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812280" y="248716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This Report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2798064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8A0"/>
                </a:solidFill>
              </a:rPr>
              <a:t>Research-backed analysis of datasets, stack, limitations, and future work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886200"/>
            <a:ext cx="8229600" cy="22860"/>
          </a:xfrm>
          <a:prstGeom prst="rect">
            <a:avLst/>
          </a:prstGeom>
          <a:solidFill>
            <a:srgbClr val="2E2E4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868A0"/>
                </a:solidFill>
              </a:rPr>
              <a:t>Bookify  ·  Engineering Book Recommendation System  ·  Built with Python · scikit-learn · Vanilla JS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4279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B954"/>
                </a:solidFill>
              </a:rPr>
              <a:t>github.com/yourname/bookify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297680" y="46177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Bookify – Engineering Book Recommendation System</dc:title>
  <dc:subject>PptxGenJS Presentation</dc:subject>
  <dc:creator>PptxGenJS</dc:creator>
  <cp:lastModifiedBy>PptxGenJS</cp:lastModifiedBy>
  <cp:revision>1</cp:revision>
  <dcterms:created xsi:type="dcterms:W3CDTF">2026-03-16T09:52:56Z</dcterms:created>
  <dcterms:modified xsi:type="dcterms:W3CDTF">2026-03-16T09:52:56Z</dcterms:modified>
</cp:coreProperties>
</file>